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1.xml" ContentType="application/vnd.openxmlformats-officedocument.drawingml.diagramColors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57" r:id="rId5"/>
    <p:sldId id="260" r:id="rId6"/>
    <p:sldId id="262" r:id="rId7"/>
    <p:sldId id="264" r:id="rId8"/>
    <p:sldId id="266" r:id="rId9"/>
    <p:sldId id="268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>
      <p:cViewPr>
        <p:scale>
          <a:sx n="70" d="100"/>
          <a:sy n="70" d="100"/>
        </p:scale>
        <p:origin x="-1156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12236A-5719-453D-A6EA-98DDBF077844}" type="doc">
      <dgm:prSet loTypeId="urn:microsoft.com/office/officeart/2005/8/layout/venn1" loCatId="relationship" qsTypeId="urn:microsoft.com/office/officeart/2005/8/quickstyle/3d3" qsCatId="3D" csTypeId="urn:microsoft.com/office/officeart/2005/8/colors/accent1_2" csCatId="accent1" phldr="1"/>
      <dgm:spPr/>
    </dgm:pt>
    <dgm:pt modelId="{11BD5355-8F5C-4FD6-AF22-9AEBE9540957}">
      <dgm:prSet phldrT="[Text]"/>
      <dgm:spPr/>
      <dgm:t>
        <a:bodyPr/>
        <a:lstStyle/>
        <a:p>
          <a:r>
            <a:rPr lang="en-US" b="1" dirty="0" smtClean="0">
              <a:solidFill>
                <a:schemeClr val="accent6">
                  <a:lumMod val="60000"/>
                  <a:lumOff val="40000"/>
                </a:schemeClr>
              </a:solidFill>
            </a:rPr>
            <a:t>Skill Development</a:t>
          </a:r>
          <a:endParaRPr 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60F1CE4-BD74-4500-8855-A253E620BEA6}" type="parTrans" cxnId="{A85B2967-8897-499F-A903-814998E98E7A}">
      <dgm:prSet/>
      <dgm:spPr/>
      <dgm:t>
        <a:bodyPr/>
        <a:lstStyle/>
        <a:p>
          <a:endParaRPr lang="en-US"/>
        </a:p>
      </dgm:t>
    </dgm:pt>
    <dgm:pt modelId="{D9A9625B-5F3E-4325-9C9E-3D8F970A68C5}" type="sibTrans" cxnId="{A85B2967-8897-499F-A903-814998E98E7A}">
      <dgm:prSet/>
      <dgm:spPr/>
      <dgm:t>
        <a:bodyPr/>
        <a:lstStyle/>
        <a:p>
          <a:endParaRPr lang="en-US"/>
        </a:p>
      </dgm:t>
    </dgm:pt>
    <dgm:pt modelId="{B3DA594B-C749-4CAD-BE7A-EDECD75335C0}">
      <dgm:prSet phldrT="[Text]"/>
      <dgm:spPr/>
      <dgm:t>
        <a:bodyPr/>
        <a:lstStyle/>
        <a:p>
          <a:r>
            <a:rPr lang="en-US" b="1" dirty="0" smtClean="0">
              <a:solidFill>
                <a:schemeClr val="accent6">
                  <a:lumMod val="60000"/>
                  <a:lumOff val="40000"/>
                </a:schemeClr>
              </a:solidFill>
            </a:rPr>
            <a:t>Financial Literacy </a:t>
          </a:r>
          <a:endParaRPr 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0DF6DBC4-547D-45CA-94FF-47B2C510806C}" type="parTrans" cxnId="{93EBAA4D-4DF8-4091-9F4A-82797CA00F46}">
      <dgm:prSet/>
      <dgm:spPr/>
      <dgm:t>
        <a:bodyPr/>
        <a:lstStyle/>
        <a:p>
          <a:endParaRPr lang="en-US"/>
        </a:p>
      </dgm:t>
    </dgm:pt>
    <dgm:pt modelId="{242483E7-1C41-40A0-AA2B-8420C279FE77}" type="sibTrans" cxnId="{93EBAA4D-4DF8-4091-9F4A-82797CA00F46}">
      <dgm:prSet/>
      <dgm:spPr/>
      <dgm:t>
        <a:bodyPr/>
        <a:lstStyle/>
        <a:p>
          <a:endParaRPr lang="en-US"/>
        </a:p>
      </dgm:t>
    </dgm:pt>
    <dgm:pt modelId="{358062AE-18FF-4AB1-86BD-FAA16DD0E5DE}">
      <dgm:prSet phldrT="[Text]"/>
      <dgm:spPr/>
      <dgm:t>
        <a:bodyPr/>
        <a:lstStyle/>
        <a:p>
          <a:r>
            <a:rPr lang="en-US" b="1" dirty="0" smtClean="0">
              <a:solidFill>
                <a:schemeClr val="accent6">
                  <a:lumMod val="60000"/>
                  <a:lumOff val="40000"/>
                </a:schemeClr>
              </a:solidFill>
            </a:rPr>
            <a:t>Marketplace</a:t>
          </a:r>
          <a:r>
            <a:rPr lang="en-US" b="1" dirty="0" smtClean="0"/>
            <a:t> </a:t>
          </a:r>
          <a:endParaRPr lang="en-US" dirty="0"/>
        </a:p>
      </dgm:t>
    </dgm:pt>
    <dgm:pt modelId="{F839A8CD-745A-4739-AE32-4AC1609DE7F4}" type="parTrans" cxnId="{8CB52F0E-0A33-40E6-90B3-44925730EE5C}">
      <dgm:prSet/>
      <dgm:spPr/>
      <dgm:t>
        <a:bodyPr/>
        <a:lstStyle/>
        <a:p>
          <a:endParaRPr lang="en-US"/>
        </a:p>
      </dgm:t>
    </dgm:pt>
    <dgm:pt modelId="{257315DB-A397-4644-B829-43DDD4D6D6BA}" type="sibTrans" cxnId="{8CB52F0E-0A33-40E6-90B3-44925730EE5C}">
      <dgm:prSet/>
      <dgm:spPr/>
      <dgm:t>
        <a:bodyPr/>
        <a:lstStyle/>
        <a:p>
          <a:endParaRPr lang="en-US"/>
        </a:p>
      </dgm:t>
    </dgm:pt>
    <dgm:pt modelId="{3FE75A9B-21CB-4EF6-952D-2C6B35C3C02E}" type="pres">
      <dgm:prSet presAssocID="{4912236A-5719-453D-A6EA-98DDBF077844}" presName="compositeShape" presStyleCnt="0">
        <dgm:presLayoutVars>
          <dgm:chMax val="7"/>
          <dgm:dir/>
          <dgm:resizeHandles val="exact"/>
        </dgm:presLayoutVars>
      </dgm:prSet>
      <dgm:spPr/>
    </dgm:pt>
    <dgm:pt modelId="{85FAF2E1-64E4-450E-9896-033A6C4ED1AF}" type="pres">
      <dgm:prSet presAssocID="{11BD5355-8F5C-4FD6-AF22-9AEBE9540957}" presName="circ1" presStyleLbl="vennNode1" presStyleIdx="0" presStyleCnt="3"/>
      <dgm:spPr/>
      <dgm:t>
        <a:bodyPr/>
        <a:lstStyle/>
        <a:p>
          <a:endParaRPr lang="en-US"/>
        </a:p>
      </dgm:t>
    </dgm:pt>
    <dgm:pt modelId="{B793CF3C-0B69-417C-B309-AAC70820F9C2}" type="pres">
      <dgm:prSet presAssocID="{11BD5355-8F5C-4FD6-AF22-9AEBE9540957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E560D1-B75C-4499-80D0-BA3E94ECEE5E}" type="pres">
      <dgm:prSet presAssocID="{B3DA594B-C749-4CAD-BE7A-EDECD75335C0}" presName="circ2" presStyleLbl="vennNode1" presStyleIdx="1" presStyleCnt="3"/>
      <dgm:spPr/>
      <dgm:t>
        <a:bodyPr/>
        <a:lstStyle/>
        <a:p>
          <a:endParaRPr lang="en-US"/>
        </a:p>
      </dgm:t>
    </dgm:pt>
    <dgm:pt modelId="{50D53C8B-291B-42EF-B35C-730BB4FBB78D}" type="pres">
      <dgm:prSet presAssocID="{B3DA594B-C749-4CAD-BE7A-EDECD75335C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7344B0-DB56-486F-A822-4A4AEE210E81}" type="pres">
      <dgm:prSet presAssocID="{358062AE-18FF-4AB1-86BD-FAA16DD0E5DE}" presName="circ3" presStyleLbl="vennNode1" presStyleIdx="2" presStyleCnt="3"/>
      <dgm:spPr/>
      <dgm:t>
        <a:bodyPr/>
        <a:lstStyle/>
        <a:p>
          <a:endParaRPr lang="en-US"/>
        </a:p>
      </dgm:t>
    </dgm:pt>
    <dgm:pt modelId="{CD67DF50-A79F-4FA2-A46E-7346C0E53819}" type="pres">
      <dgm:prSet presAssocID="{358062AE-18FF-4AB1-86BD-FAA16DD0E5DE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C7C78B6-0D94-49EF-8150-DE39BF923F40}" type="presOf" srcId="{B3DA594B-C749-4CAD-BE7A-EDECD75335C0}" destId="{50D53C8B-291B-42EF-B35C-730BB4FBB78D}" srcOrd="1" destOrd="0" presId="urn:microsoft.com/office/officeart/2005/8/layout/venn1"/>
    <dgm:cxn modelId="{93EBAA4D-4DF8-4091-9F4A-82797CA00F46}" srcId="{4912236A-5719-453D-A6EA-98DDBF077844}" destId="{B3DA594B-C749-4CAD-BE7A-EDECD75335C0}" srcOrd="1" destOrd="0" parTransId="{0DF6DBC4-547D-45CA-94FF-47B2C510806C}" sibTransId="{242483E7-1C41-40A0-AA2B-8420C279FE77}"/>
    <dgm:cxn modelId="{9AF46F35-E39C-482A-B755-586C2B679416}" type="presOf" srcId="{4912236A-5719-453D-A6EA-98DDBF077844}" destId="{3FE75A9B-21CB-4EF6-952D-2C6B35C3C02E}" srcOrd="0" destOrd="0" presId="urn:microsoft.com/office/officeart/2005/8/layout/venn1"/>
    <dgm:cxn modelId="{D848EA40-04CA-4C46-A2E2-0F2430A2926F}" type="presOf" srcId="{358062AE-18FF-4AB1-86BD-FAA16DD0E5DE}" destId="{A27344B0-DB56-486F-A822-4A4AEE210E81}" srcOrd="0" destOrd="0" presId="urn:microsoft.com/office/officeart/2005/8/layout/venn1"/>
    <dgm:cxn modelId="{1074569A-C3B7-4DCE-97DE-FC24FF221D64}" type="presOf" srcId="{358062AE-18FF-4AB1-86BD-FAA16DD0E5DE}" destId="{CD67DF50-A79F-4FA2-A46E-7346C0E53819}" srcOrd="1" destOrd="0" presId="urn:microsoft.com/office/officeart/2005/8/layout/venn1"/>
    <dgm:cxn modelId="{BBADF31C-2BBD-4505-B032-0364ACAE2953}" type="presOf" srcId="{11BD5355-8F5C-4FD6-AF22-9AEBE9540957}" destId="{B793CF3C-0B69-417C-B309-AAC70820F9C2}" srcOrd="1" destOrd="0" presId="urn:microsoft.com/office/officeart/2005/8/layout/venn1"/>
    <dgm:cxn modelId="{C288222F-D6CB-4DCA-9CAB-62FF44970F63}" type="presOf" srcId="{11BD5355-8F5C-4FD6-AF22-9AEBE9540957}" destId="{85FAF2E1-64E4-450E-9896-033A6C4ED1AF}" srcOrd="0" destOrd="0" presId="urn:microsoft.com/office/officeart/2005/8/layout/venn1"/>
    <dgm:cxn modelId="{EAD3AD0E-AD49-42CE-A0C5-024DB3F2C455}" type="presOf" srcId="{B3DA594B-C749-4CAD-BE7A-EDECD75335C0}" destId="{24E560D1-B75C-4499-80D0-BA3E94ECEE5E}" srcOrd="0" destOrd="0" presId="urn:microsoft.com/office/officeart/2005/8/layout/venn1"/>
    <dgm:cxn modelId="{A85B2967-8897-499F-A903-814998E98E7A}" srcId="{4912236A-5719-453D-A6EA-98DDBF077844}" destId="{11BD5355-8F5C-4FD6-AF22-9AEBE9540957}" srcOrd="0" destOrd="0" parTransId="{560F1CE4-BD74-4500-8855-A253E620BEA6}" sibTransId="{D9A9625B-5F3E-4325-9C9E-3D8F970A68C5}"/>
    <dgm:cxn modelId="{8CB52F0E-0A33-40E6-90B3-44925730EE5C}" srcId="{4912236A-5719-453D-A6EA-98DDBF077844}" destId="{358062AE-18FF-4AB1-86BD-FAA16DD0E5DE}" srcOrd="2" destOrd="0" parTransId="{F839A8CD-745A-4739-AE32-4AC1609DE7F4}" sibTransId="{257315DB-A397-4644-B829-43DDD4D6D6BA}"/>
    <dgm:cxn modelId="{3912CF77-00D8-48E1-A468-C951320A7C27}" type="presParOf" srcId="{3FE75A9B-21CB-4EF6-952D-2C6B35C3C02E}" destId="{85FAF2E1-64E4-450E-9896-033A6C4ED1AF}" srcOrd="0" destOrd="0" presId="urn:microsoft.com/office/officeart/2005/8/layout/venn1"/>
    <dgm:cxn modelId="{87E1D315-000A-46AC-AF55-B3EF18922C8F}" type="presParOf" srcId="{3FE75A9B-21CB-4EF6-952D-2C6B35C3C02E}" destId="{B793CF3C-0B69-417C-B309-AAC70820F9C2}" srcOrd="1" destOrd="0" presId="urn:microsoft.com/office/officeart/2005/8/layout/venn1"/>
    <dgm:cxn modelId="{B4BCF7A6-F9F9-4698-89A5-EE0B990DCE9F}" type="presParOf" srcId="{3FE75A9B-21CB-4EF6-952D-2C6B35C3C02E}" destId="{24E560D1-B75C-4499-80D0-BA3E94ECEE5E}" srcOrd="2" destOrd="0" presId="urn:microsoft.com/office/officeart/2005/8/layout/venn1"/>
    <dgm:cxn modelId="{7BBC8D15-4125-4ACE-83B2-F3C28D36C05D}" type="presParOf" srcId="{3FE75A9B-21CB-4EF6-952D-2C6B35C3C02E}" destId="{50D53C8B-291B-42EF-B35C-730BB4FBB78D}" srcOrd="3" destOrd="0" presId="urn:microsoft.com/office/officeart/2005/8/layout/venn1"/>
    <dgm:cxn modelId="{02748C8F-34A1-433C-AFD8-F0CC1FCD1608}" type="presParOf" srcId="{3FE75A9B-21CB-4EF6-952D-2C6B35C3C02E}" destId="{A27344B0-DB56-486F-A822-4A4AEE210E81}" srcOrd="4" destOrd="0" presId="urn:microsoft.com/office/officeart/2005/8/layout/venn1"/>
    <dgm:cxn modelId="{8A50C7AC-75BD-4591-BE4F-3693A8792EB7}" type="presParOf" srcId="{3FE75A9B-21CB-4EF6-952D-2C6B35C3C02E}" destId="{CD67DF50-A79F-4FA2-A46E-7346C0E53819}" srcOrd="5" destOrd="0" presId="urn:microsoft.com/office/officeart/2005/8/layout/venn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4AA40-C2EF-4E18-BB4C-77FE2BD57EF6}" type="datetimeFigureOut">
              <a:rPr lang="en-US" smtClean="0"/>
              <a:pPr/>
              <a:t>10/15/2025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69C08C-87F7-4CB0-ACC0-E8FA5567D7E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69C08C-87F7-4CB0-ACC0-E8FA5567D7EE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21B3-7A7F-4D95-ADA9-F85024F50E1F}" type="datetimeFigureOut">
              <a:rPr lang="en-US" smtClean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B0AF-0C45-4E43-A5EB-4665F8607F0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21B3-7A7F-4D95-ADA9-F85024F50E1F}" type="datetimeFigureOut">
              <a:rPr lang="en-US" smtClean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B0AF-0C45-4E43-A5EB-4665F8607F0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21B3-7A7F-4D95-ADA9-F85024F50E1F}" type="datetimeFigureOut">
              <a:rPr lang="en-US" smtClean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B0AF-0C45-4E43-A5EB-4665F8607F0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21B3-7A7F-4D95-ADA9-F85024F50E1F}" type="datetimeFigureOut">
              <a:rPr lang="en-US" smtClean="0"/>
              <a:pPr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B0AF-0C45-4E43-A5EB-4665F8607F0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21B3-7A7F-4D95-ADA9-F85024F50E1F}" type="datetimeFigureOut">
              <a:rPr lang="en-US" smtClean="0"/>
              <a:pPr/>
              <a:t>10/15/2025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B0AF-0C45-4E43-A5EB-4665F8607F0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21B3-7A7F-4D95-ADA9-F85024F50E1F}" type="datetimeFigureOut">
              <a:rPr lang="en-US" smtClean="0"/>
              <a:pPr/>
              <a:t>10/15/2025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B0AF-0C45-4E43-A5EB-4665F8607F0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21B3-7A7F-4D95-ADA9-F85024F50E1F}" type="datetimeFigureOut">
              <a:rPr lang="en-US" smtClean="0"/>
              <a:pPr/>
              <a:t>10/15/2025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B0AF-0C45-4E43-A5EB-4665F8607F0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21B3-7A7F-4D95-ADA9-F85024F50E1F}" type="datetimeFigureOut">
              <a:rPr lang="en-US" smtClean="0"/>
              <a:pPr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B0AF-0C45-4E43-A5EB-4665F8607F0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21B3-7A7F-4D95-ADA9-F85024F50E1F}" type="datetimeFigureOut">
              <a:rPr lang="en-US" smtClean="0"/>
              <a:pPr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B0AF-0C45-4E43-A5EB-4665F8607F0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21B3-7A7F-4D95-ADA9-F85024F50E1F}" type="datetimeFigureOut">
              <a:rPr lang="en-US" smtClean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B0AF-0C45-4E43-A5EB-4665F8607F0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21B3-7A7F-4D95-ADA9-F85024F50E1F}" type="datetimeFigureOut">
              <a:rPr lang="en-US" smtClean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B0AF-0C45-4E43-A5EB-4665F8607F0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A21B3-7A7F-4D95-ADA9-F85024F50E1F}" type="datetimeFigureOut">
              <a:rPr lang="en-US" smtClean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7B0AF-0C45-4E43-A5EB-4665F8607F0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rive.google.com/file/d/1vR0h7cCf8aKphda_eOtahQ5f5W_ojHzv/view?usp=drive_link" TargetMode="External"/><Relationship Id="rId4" Type="http://schemas.openxmlformats.org/officeDocument/2006/relationships/hyperlink" Target="https://drive.google.com/file/d/13zuFJivbXgI47zwQpDtimPGSS5lEL0Us/view?usp=drive_link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6" Type="http://schemas.openxmlformats.org/officeDocument/2006/relationships/image" Target="../media/image6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openxmlformats.org/officeDocument/2006/relationships/image" Target="../media/image11.png"/><Relationship Id="rId17" Type="http://schemas.openxmlformats.org/officeDocument/2006/relationships/image" Target="../media/image12.png"/><Relationship Id="rId2" Type="http://schemas.openxmlformats.org/officeDocument/2006/relationships/image" Target="../media/image10.jpeg"/><Relationship Id="rId16" Type="http://schemas.openxmlformats.org/officeDocument/2006/relationships/image" Target="../media/image61.sv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7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55.svg"/><Relationship Id="rId4" Type="http://schemas.openxmlformats.org/officeDocument/2006/relationships/diagramLayout" Target="../diagrams/layout1.xml"/><Relationship Id="rId22" Type="http://schemas.openxmlformats.org/officeDocument/2006/relationships/image" Target="../media/image6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6" name="Picture 5" descr="Gemini_Generated_Image_ddiym5ddiym5ddiy.png"/>
          <p:cNvPicPr>
            <a:picLocks noChangeAspect="1"/>
          </p:cNvPicPr>
          <p:nvPr/>
        </p:nvPicPr>
        <p:blipFill>
          <a:blip r:embed="rId2"/>
          <a:srcRect l="13672" t="26144" r="16992" b="19866"/>
          <a:stretch>
            <a:fillRect/>
          </a:stretch>
        </p:blipFill>
        <p:spPr>
          <a:xfrm>
            <a:off x="214314" y="142852"/>
            <a:ext cx="8929686" cy="6572296"/>
          </a:xfrm>
          <a:prstGeom prst="rect">
            <a:avLst/>
          </a:prstGeom>
        </p:spPr>
      </p:pic>
      <p:pic>
        <p:nvPicPr>
          <p:cNvPr id="7" name="Picture 6" descr="Gemini_Generated_Image_7vj9ta7vj9ta7vj9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28926" y="714356"/>
            <a:ext cx="5715040" cy="142876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3071802" y="1142984"/>
            <a:ext cx="5643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latin typeface="Georgia" pitchFamily="18" charset="0"/>
              </a:rPr>
              <a:t>Team : Data Dominators</a:t>
            </a:r>
            <a:endParaRPr lang="en-US" sz="3200" b="1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91561" y="1773784"/>
            <a:ext cx="19520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BCA 1</a:t>
            </a:r>
            <a:r>
              <a:rPr lang="en-US" sz="1600" baseline="30000" dirty="0" smtClean="0">
                <a:solidFill>
                  <a:schemeClr val="bg1"/>
                </a:solidFill>
              </a:rPr>
              <a:t>st</a:t>
            </a:r>
            <a:r>
              <a:rPr lang="en-US" sz="1600" dirty="0" smtClean="0">
                <a:solidFill>
                  <a:schemeClr val="bg1"/>
                </a:solidFill>
              </a:rPr>
              <a:t> year | vsics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67468" y="2714620"/>
            <a:ext cx="3717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chemeClr val="bg1"/>
                </a:solidFill>
                <a:latin typeface="Georgia" pitchFamily="18" charset="0"/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1908" y="3214686"/>
            <a:ext cx="4979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Georgia" pitchFamily="18" charset="0"/>
              </a:rPr>
              <a:t>Rural Women Entrepreneurship Support</a:t>
            </a:r>
            <a:endParaRPr lang="en-US" sz="2000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13" name="Rounded Rectangle 12">
            <a:hlinkClick r:id="rId4"/>
          </p:cNvPr>
          <p:cNvSpPr/>
          <p:nvPr/>
        </p:nvSpPr>
        <p:spPr>
          <a:xfrm>
            <a:off x="2928926" y="5500702"/>
            <a:ext cx="1571636" cy="571504"/>
          </a:xfrm>
          <a:prstGeom prst="roundRect">
            <a:avLst/>
          </a:prstGeom>
          <a:solidFill>
            <a:schemeClr val="accent3">
              <a:lumMod val="7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Download source code</a:t>
            </a:r>
            <a:endParaRPr lang="en-US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Rounded Rectangle 13">
            <a:hlinkClick r:id="rId5"/>
          </p:cNvPr>
          <p:cNvSpPr/>
          <p:nvPr/>
        </p:nvSpPr>
        <p:spPr>
          <a:xfrm>
            <a:off x="6286512" y="5500702"/>
            <a:ext cx="1571636" cy="571504"/>
          </a:xfrm>
          <a:prstGeom prst="roundRect">
            <a:avLst/>
          </a:prstGeom>
          <a:solidFill>
            <a:schemeClr val="accent3">
              <a:lumMod val="7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Download user manual</a:t>
            </a:r>
            <a:endParaRPr lang="en-US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14546" y="6143644"/>
            <a:ext cx="6429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*Both buttons above contain hyperlinks for downloading the respective files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-857288" y="10001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571736" y="428604"/>
            <a:ext cx="467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Note: </a:t>
            </a:r>
            <a:r>
              <a:rPr lang="en-US" dirty="0" smtClean="0">
                <a:solidFill>
                  <a:schemeClr val="bg1"/>
                </a:solidFill>
              </a:rPr>
              <a:t>pls</a:t>
            </a:r>
            <a:r>
              <a:rPr lang="en-US" dirty="0" smtClean="0">
                <a:solidFill>
                  <a:schemeClr val="bg1"/>
                </a:solidFill>
              </a:rPr>
              <a:t> open this file in Microsoft power point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/>
          <p:cNvSpPr/>
          <p:nvPr/>
        </p:nvSpPr>
        <p:spPr>
          <a:xfrm rot="5400000">
            <a:off x="2826337" y="-2540641"/>
            <a:ext cx="3419856" cy="8786842"/>
          </a:xfrm>
          <a:custGeom>
            <a:avLst/>
            <a:gdLst/>
            <a:ahLst/>
            <a:cxnLst/>
            <a:rect l="l" t="t" r="r" b="b"/>
            <a:pathLst>
              <a:path w="3419856" h="9535668">
                <a:moveTo>
                  <a:pt x="0" y="0"/>
                </a:moveTo>
                <a:lnTo>
                  <a:pt x="3419856" y="0"/>
                </a:lnTo>
                <a:lnTo>
                  <a:pt x="3419856" y="9535668"/>
                </a:lnTo>
                <a:lnTo>
                  <a:pt x="0" y="9535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0694" y="330693"/>
            <a:ext cx="3394364" cy="3026869"/>
          </a:xfrm>
          <a:prstGeom prst="round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Rectangle 8"/>
          <p:cNvSpPr/>
          <p:nvPr/>
        </p:nvSpPr>
        <p:spPr>
          <a:xfrm>
            <a:off x="285720" y="428604"/>
            <a:ext cx="4643470" cy="164307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smtClean="0">
                <a:latin typeface="Bodoni MT" pitchFamily="18" charset="0"/>
              </a:rPr>
              <a:t>EmpowerHer: Bridging Skills &amp; Opportunities for Rural Women Entrepreneurs</a:t>
            </a:r>
            <a:endParaRPr lang="en-US" sz="3200" b="1" dirty="0">
              <a:latin typeface="Bodoni MT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4282" y="2357430"/>
            <a:ext cx="53578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"We believe every rural woman with a skill deserves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a chance to earn, learn, and grow.  EmpowerHer is our way of turning that belief into reality. ”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Freeform 9"/>
          <p:cNvSpPr/>
          <p:nvPr/>
        </p:nvSpPr>
        <p:spPr>
          <a:xfrm rot="5400000">
            <a:off x="3143220" y="857220"/>
            <a:ext cx="3143248" cy="8858312"/>
          </a:xfrm>
          <a:custGeom>
            <a:avLst/>
            <a:gdLst/>
            <a:ahLst/>
            <a:cxnLst/>
            <a:rect l="l" t="t" r="r" b="b"/>
            <a:pathLst>
              <a:path w="3549396" h="9535668">
                <a:moveTo>
                  <a:pt x="0" y="0"/>
                </a:moveTo>
                <a:lnTo>
                  <a:pt x="3549396" y="0"/>
                </a:lnTo>
                <a:lnTo>
                  <a:pt x="3549396" y="9535668"/>
                </a:lnTo>
                <a:lnTo>
                  <a:pt x="0" y="9535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57"/>
            </a:stretch>
          </a:blipFill>
        </p:spPr>
      </p:sp>
      <p:sp>
        <p:nvSpPr>
          <p:cNvPr id="20" name="Rounded Rectangle 19"/>
          <p:cNvSpPr/>
          <p:nvPr/>
        </p:nvSpPr>
        <p:spPr>
          <a:xfrm>
            <a:off x="4643438" y="5786454"/>
            <a:ext cx="4429156" cy="1000132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u="sng" dirty="0" smtClean="0"/>
              <a:t>Priyanshi Dixit</a:t>
            </a:r>
          </a:p>
          <a:p>
            <a:pPr algn="ctr"/>
            <a:r>
              <a:rPr lang="en-US" sz="1600" dirty="0" smtClean="0"/>
              <a:t>Data Analyst &amp; Researcher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596" y="5786454"/>
            <a:ext cx="4143404" cy="1000132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u="sng" dirty="0" smtClean="0"/>
              <a:t>Sakshi Yadav</a:t>
            </a:r>
          </a:p>
          <a:p>
            <a:pPr algn="ctr"/>
            <a:r>
              <a:rPr lang="en-US" sz="1600" dirty="0" smtClean="0"/>
              <a:t>Presentation &amp; Documentation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8992" y="4500570"/>
            <a:ext cx="2786082" cy="107157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 smtClean="0"/>
              <a:t>Aarav shukla</a:t>
            </a:r>
          </a:p>
          <a:p>
            <a:pPr algn="ctr"/>
            <a:r>
              <a:rPr lang="en-US" sz="1600" dirty="0" smtClean="0"/>
              <a:t>Frontend Developer &amp; UI/UX Designer</a:t>
            </a:r>
          </a:p>
        </p:txBody>
      </p:sp>
      <p:sp>
        <p:nvSpPr>
          <p:cNvPr id="28" name="TextBox 27"/>
          <p:cNvSpPr txBox="1"/>
          <p:nvPr/>
        </p:nvSpPr>
        <p:spPr>
          <a:xfrm flipH="1">
            <a:off x="500034" y="3786190"/>
            <a:ext cx="2571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lt1"/>
                </a:solidFill>
                <a:latin typeface="Bodoni MT" pitchFamily="18" charset="0"/>
              </a:rPr>
              <a:t>Meet our team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7950" y="4500570"/>
            <a:ext cx="2714644" cy="107157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 smtClean="0"/>
              <a:t>Rishabh Verma</a:t>
            </a:r>
          </a:p>
          <a:p>
            <a:pPr algn="ctr"/>
            <a:r>
              <a:rPr lang="en-US" sz="1600" dirty="0" smtClean="0"/>
              <a:t>AI/ML Developer</a:t>
            </a:r>
          </a:p>
          <a:p>
            <a:pPr algn="ctr"/>
            <a:endParaRPr lang="en-US" sz="1600" dirty="0" smtClean="0"/>
          </a:p>
        </p:txBody>
      </p:sp>
      <p:sp>
        <p:nvSpPr>
          <p:cNvPr id="30" name="Rounded Rectangle 29"/>
          <p:cNvSpPr/>
          <p:nvPr/>
        </p:nvSpPr>
        <p:spPr>
          <a:xfrm>
            <a:off x="428596" y="4500570"/>
            <a:ext cx="2857520" cy="107157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u="sng" dirty="0" smtClean="0"/>
              <a:t>Rishabh shukla</a:t>
            </a:r>
          </a:p>
          <a:p>
            <a:pPr algn="ctr"/>
            <a:r>
              <a:rPr lang="en-US" sz="1600" dirty="0" smtClean="0"/>
              <a:t>Team leader, backend dev and data scientist</a:t>
            </a:r>
          </a:p>
        </p:txBody>
      </p:sp>
      <p:sp>
        <p:nvSpPr>
          <p:cNvPr id="32" name="Freeform 28"/>
          <p:cNvSpPr/>
          <p:nvPr/>
        </p:nvSpPr>
        <p:spPr>
          <a:xfrm>
            <a:off x="571472" y="4572008"/>
            <a:ext cx="473469" cy="384981"/>
          </a:xfrm>
          <a:custGeom>
            <a:avLst/>
            <a:gdLst/>
            <a:ahLst/>
            <a:cxnLst/>
            <a:rect l="l" t="t" r="r" b="b"/>
            <a:pathLst>
              <a:path w="473469" h="384981">
                <a:moveTo>
                  <a:pt x="0" y="0"/>
                </a:moveTo>
                <a:lnTo>
                  <a:pt x="473469" y="0"/>
                </a:lnTo>
                <a:lnTo>
                  <a:pt x="473469" y="384982"/>
                </a:lnTo>
                <a:lnTo>
                  <a:pt x="0" y="3849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>
            <a:off x="1142988" y="-1071583"/>
            <a:ext cx="6715148" cy="8858312"/>
          </a:xfrm>
          <a:custGeom>
            <a:avLst/>
            <a:gdLst/>
            <a:ahLst/>
            <a:cxnLst/>
            <a:rect l="l" t="t" r="r" b="b"/>
            <a:pathLst>
              <a:path w="7130796" h="9535668">
                <a:moveTo>
                  <a:pt x="0" y="0"/>
                </a:moveTo>
                <a:lnTo>
                  <a:pt x="7130796" y="0"/>
                </a:lnTo>
                <a:lnTo>
                  <a:pt x="7130796" y="9535668"/>
                </a:lnTo>
                <a:lnTo>
                  <a:pt x="0" y="9535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4" name="Picture 3" descr="Screenshot 2025-10-10 2029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9470" y="285728"/>
            <a:ext cx="2911160" cy="56436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5720" y="71414"/>
            <a:ext cx="450059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lt1"/>
                </a:solidFill>
                <a:latin typeface="Bodoni MT" pitchFamily="18" charset="0"/>
              </a:rPr>
              <a:t>The Challenge: </a:t>
            </a:r>
            <a:r>
              <a:rPr lang="en-US" sz="3600" b="1" dirty="0" smtClean="0">
                <a:solidFill>
                  <a:schemeClr val="lt1"/>
                </a:solidFill>
                <a:latin typeface="Bodoni MT" pitchFamily="18" charset="0"/>
              </a:rPr>
              <a:t>Unlocking</a:t>
            </a:r>
            <a:r>
              <a:rPr lang="en-US" sz="3200" b="1" dirty="0" smtClean="0">
                <a:solidFill>
                  <a:schemeClr val="lt1"/>
                </a:solidFill>
                <a:latin typeface="Bodoni MT" pitchFamily="18" charset="0"/>
              </a:rPr>
              <a:t> the Potential of Rural Women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4282" y="1594482"/>
            <a:ext cx="56436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In villages across India, countless women possess remarkable skills—from weaving and embroidery to food processing and handicrafts. Yet, many struggle to earn a sustainable income because they lack critical resource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4282" y="2857496"/>
            <a:ext cx="2857520" cy="1785950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  <a:effectLst>
            <a:outerShdw blurRad="50800" dir="8100000" algn="tr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+mj-lt"/>
              </a:rPr>
              <a:t>Mentorship</a:t>
            </a:r>
          </a:p>
          <a:p>
            <a:r>
              <a:rPr lang="en-US" dirty="0" smtClean="0"/>
              <a:t>Lack of guidance to navigate their  entrepreneurial</a:t>
            </a:r>
          </a:p>
          <a:p>
            <a:r>
              <a:rPr lang="en-US" dirty="0" smtClean="0"/>
              <a:t> journey effectively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3143240" y="2857496"/>
            <a:ext cx="2786082" cy="1785950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  <a:effectLst>
            <a:outerShdw blurRad="50800" dir="8100000" algn="tr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Access to Markets</a:t>
            </a:r>
          </a:p>
          <a:p>
            <a:r>
              <a:rPr lang="en-US" dirty="0" smtClean="0"/>
              <a:t>Limited platforms where their products are valued and can reach wider audiences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285720" y="4714884"/>
            <a:ext cx="5572164" cy="1143008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  <a:effectLst>
            <a:outerShdw blurRad="50800" dir="8100000" algn="tr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+mj-lt"/>
              </a:rPr>
              <a:t>Mentorship</a:t>
            </a:r>
          </a:p>
          <a:p>
            <a:r>
              <a:rPr lang="en-US" dirty="0" smtClean="0"/>
              <a:t>Lack of guidance to navigate their  entrepreneurial journey effectively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1438" y="6006132"/>
            <a:ext cx="92869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These barriers not only limit personal growth but also restrict community development. Empowering rural women is not just a social mission it is a key driver for economic upliftment.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/>
          <p:cNvSpPr/>
          <p:nvPr/>
        </p:nvSpPr>
        <p:spPr>
          <a:xfrm rot="5400000">
            <a:off x="1250118" y="-1035859"/>
            <a:ext cx="6572295" cy="8929718"/>
          </a:xfrm>
          <a:custGeom>
            <a:avLst/>
            <a:gdLst/>
            <a:ahLst/>
            <a:cxnLst/>
            <a:rect l="l" t="t" r="r" b="b"/>
            <a:pathLst>
              <a:path w="7155180" h="9535668">
                <a:moveTo>
                  <a:pt x="0" y="0"/>
                </a:moveTo>
                <a:lnTo>
                  <a:pt x="7155180" y="0"/>
                </a:lnTo>
                <a:lnTo>
                  <a:pt x="7155180" y="9535668"/>
                </a:lnTo>
                <a:lnTo>
                  <a:pt x="0" y="9535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dirty="0" smtClean="0"/>
              <a:t>`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57158" y="285728"/>
            <a:ext cx="800105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lt1"/>
                </a:solidFill>
                <a:latin typeface="Bodoni MT" pitchFamily="18" charset="0"/>
              </a:rPr>
              <a:t>Our Solution: A Comprehensive Digital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282" y="1571612"/>
            <a:ext cx="46434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To bridge the gap between talent and opportunity, we propose a </a:t>
            </a:r>
            <a:r>
              <a:rPr lang="en-US" b="1" dirty="0" smtClean="0">
                <a:solidFill>
                  <a:schemeClr val="bg1"/>
                </a:solidFill>
              </a:rPr>
              <a:t>comprehensive digital platform</a:t>
            </a:r>
            <a:r>
              <a:rPr lang="en-US" dirty="0" smtClean="0">
                <a:solidFill>
                  <a:schemeClr val="bg1"/>
                </a:solidFill>
              </a:rPr>
              <a:t> designed specifically for rural women. Our platform is more than a marketplace—it is a </a:t>
            </a:r>
            <a:r>
              <a:rPr lang="en-US" b="1" dirty="0" smtClean="0">
                <a:solidFill>
                  <a:schemeClr val="bg1"/>
                </a:solidFill>
              </a:rPr>
              <a:t>holistic ecosystem</a:t>
            </a:r>
            <a:r>
              <a:rPr lang="en-US" dirty="0" smtClean="0">
                <a:solidFill>
                  <a:schemeClr val="bg1"/>
                </a:solidFill>
              </a:rPr>
              <a:t> that nurtures skills, provides mentorship, and ensures financial empowerment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2844" y="4214818"/>
            <a:ext cx="2714644" cy="221599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   Mentorship &amp; Skill Development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Personalized guidance from experienced entrepreneurs and skill trainers to help women start and scale businesses.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8926" y="4213405"/>
            <a:ext cx="3143272" cy="221599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      Financial Literacy &amp; Support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Step-by-step modules covering loans, savings, and government schemes, empowering women to make informed financial decisions.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43636" y="4213405"/>
            <a:ext cx="2928926" cy="2215991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     Mentorship &amp; Skill Development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Personalized guidance from experienced entrepreneurs and skill trainers to help women start and scale businesses.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8" name="Diagram 7"/>
          <p:cNvGraphicFramePr/>
          <p:nvPr/>
        </p:nvGraphicFramePr>
        <p:xfrm>
          <a:off x="3786150" y="857232"/>
          <a:ext cx="5357850" cy="3214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Freeform 25"/>
          <p:cNvSpPr/>
          <p:nvPr/>
        </p:nvSpPr>
        <p:spPr>
          <a:xfrm>
            <a:off x="214282" y="4214818"/>
            <a:ext cx="453542" cy="473583"/>
          </a:xfrm>
          <a:custGeom>
            <a:avLst/>
            <a:gdLst/>
            <a:ahLst/>
            <a:cxnLst/>
            <a:rect l="l" t="t" r="r" b="b"/>
            <a:pathLst>
              <a:path w="453542" h="473583">
                <a:moveTo>
                  <a:pt x="0" y="0"/>
                </a:moveTo>
                <a:lnTo>
                  <a:pt x="453542" y="0"/>
                </a:lnTo>
                <a:lnTo>
                  <a:pt x="453542" y="473583"/>
                </a:lnTo>
                <a:lnTo>
                  <a:pt x="0" y="4735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28"/>
          <p:cNvSpPr/>
          <p:nvPr/>
        </p:nvSpPr>
        <p:spPr>
          <a:xfrm>
            <a:off x="2955523" y="4286256"/>
            <a:ext cx="473469" cy="384981"/>
          </a:xfrm>
          <a:custGeom>
            <a:avLst/>
            <a:gdLst/>
            <a:ahLst/>
            <a:cxnLst/>
            <a:rect l="l" t="t" r="r" b="b"/>
            <a:pathLst>
              <a:path w="473469" h="384981">
                <a:moveTo>
                  <a:pt x="0" y="0"/>
                </a:moveTo>
                <a:lnTo>
                  <a:pt x="473469" y="0"/>
                </a:lnTo>
                <a:lnTo>
                  <a:pt x="473469" y="384982"/>
                </a:lnTo>
                <a:lnTo>
                  <a:pt x="0" y="3849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31"/>
          <p:cNvSpPr/>
          <p:nvPr/>
        </p:nvSpPr>
        <p:spPr>
          <a:xfrm>
            <a:off x="6143636" y="4288545"/>
            <a:ext cx="473440" cy="426339"/>
          </a:xfrm>
          <a:custGeom>
            <a:avLst/>
            <a:gdLst/>
            <a:ahLst/>
            <a:cxnLst/>
            <a:rect l="l" t="t" r="r" b="b"/>
            <a:pathLst>
              <a:path w="473440" h="426339">
                <a:moveTo>
                  <a:pt x="0" y="0"/>
                </a:moveTo>
                <a:lnTo>
                  <a:pt x="473440" y="0"/>
                </a:lnTo>
                <a:lnTo>
                  <a:pt x="473440" y="426339"/>
                </a:lnTo>
                <a:lnTo>
                  <a:pt x="0" y="42633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xmlns="" r:embed="rId2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/>
          <p:cNvSpPr/>
          <p:nvPr/>
        </p:nvSpPr>
        <p:spPr>
          <a:xfrm rot="5400000">
            <a:off x="1250145" y="-1107325"/>
            <a:ext cx="6643709" cy="9001188"/>
          </a:xfrm>
          <a:custGeom>
            <a:avLst/>
            <a:gdLst/>
            <a:ahLst/>
            <a:cxnLst/>
            <a:rect l="l" t="t" r="r" b="b"/>
            <a:pathLst>
              <a:path w="4989576" h="9535668">
                <a:moveTo>
                  <a:pt x="0" y="0"/>
                </a:moveTo>
                <a:lnTo>
                  <a:pt x="4989576" y="0"/>
                </a:lnTo>
                <a:lnTo>
                  <a:pt x="4989576" y="9535668"/>
                </a:lnTo>
                <a:lnTo>
                  <a:pt x="0" y="9535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214282" y="142852"/>
            <a:ext cx="465672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chemeClr val="lt1"/>
                </a:solidFill>
                <a:latin typeface="Bodoni MT" pitchFamily="18" charset="0"/>
              </a:rPr>
              <a:t>Platform Features That</a:t>
            </a:r>
          </a:p>
          <a:p>
            <a:r>
              <a:rPr lang="en-US" sz="3600" b="1" dirty="0" smtClean="0">
                <a:solidFill>
                  <a:schemeClr val="lt1"/>
                </a:solidFill>
                <a:latin typeface="Bodoni MT" pitchFamily="18" charset="0"/>
              </a:rPr>
              <a:t> Empower</a:t>
            </a:r>
          </a:p>
          <a:p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4" name="Picture 3" descr="Screenshot 2025-10-10 2124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570" y="357166"/>
            <a:ext cx="3326103" cy="59000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24" y="2047394"/>
            <a:ext cx="370646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Networking &amp; Peer Support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Freeform 8"/>
          <p:cNvSpPr/>
          <p:nvPr/>
        </p:nvSpPr>
        <p:spPr>
          <a:xfrm>
            <a:off x="58800" y="1928802"/>
            <a:ext cx="798424" cy="3429024"/>
          </a:xfrm>
          <a:custGeom>
            <a:avLst/>
            <a:gdLst/>
            <a:ahLst/>
            <a:cxnLst/>
            <a:rect l="l" t="t" r="r" b="b"/>
            <a:pathLst>
              <a:path w="798424" h="2291944">
                <a:moveTo>
                  <a:pt x="0" y="0"/>
                </a:moveTo>
                <a:lnTo>
                  <a:pt x="798424" y="0"/>
                </a:lnTo>
                <a:lnTo>
                  <a:pt x="798424" y="2291944"/>
                </a:lnTo>
                <a:lnTo>
                  <a:pt x="0" y="2291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6"/>
          <p:cNvSpPr txBox="1"/>
          <p:nvPr/>
        </p:nvSpPr>
        <p:spPr>
          <a:xfrm>
            <a:off x="857224" y="2500306"/>
            <a:ext cx="5643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Community forums and chat features to encourage knowledge sharing, collaboration, and motivation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68" y="3429000"/>
            <a:ext cx="3529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Mobile &amp; Low-Bandwidth 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Accessibility</a:t>
            </a:r>
          </a:p>
          <a:p>
            <a:endParaRPr lang="en-US" sz="2400" b="1" dirty="0" smtClean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8662" y="4228935"/>
            <a:ext cx="4857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Optimized for smartphones and low internet connectivity to ensure inclusivity across rural areas.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2844" y="5577504"/>
            <a:ext cx="5500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Optimized for smartphones and low internet connectivity to ensure inclusivity across rural areas.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/>
          <p:cNvSpPr/>
          <p:nvPr/>
        </p:nvSpPr>
        <p:spPr>
          <a:xfrm rot="5400000">
            <a:off x="1250145" y="-1107325"/>
            <a:ext cx="6643709" cy="9001188"/>
          </a:xfrm>
          <a:custGeom>
            <a:avLst/>
            <a:gdLst/>
            <a:ahLst/>
            <a:cxnLst/>
            <a:rect l="l" t="t" r="r" b="b"/>
            <a:pathLst>
              <a:path w="4989576" h="9535668">
                <a:moveTo>
                  <a:pt x="0" y="0"/>
                </a:moveTo>
                <a:lnTo>
                  <a:pt x="4989576" y="0"/>
                </a:lnTo>
                <a:lnTo>
                  <a:pt x="4989576" y="9535668"/>
                </a:lnTo>
                <a:lnTo>
                  <a:pt x="0" y="9535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181477" y="280080"/>
            <a:ext cx="424764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lt1"/>
                </a:solidFill>
                <a:latin typeface="Bodoni MT" pitchFamily="18" charset="0"/>
              </a:rPr>
              <a:t>System Architecture</a:t>
            </a:r>
          </a:p>
          <a:p>
            <a:endParaRPr lang="en-US" sz="3200" b="1" dirty="0" smtClean="0">
              <a:solidFill>
                <a:schemeClr val="lt1"/>
              </a:solidFill>
              <a:latin typeface="Bodoni MT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2844" y="995306"/>
            <a:ext cx="56435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Technology Stack: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Frontend: 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HTML, CSS, Jinja Templates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Backend:</a:t>
            </a:r>
            <a:r>
              <a:rPr lang="en-US" sz="2000" dirty="0" smtClean="0">
                <a:solidFill>
                  <a:schemeClr val="bg1"/>
                </a:solidFill>
              </a:rPr>
              <a:t>  </a:t>
            </a:r>
            <a:r>
              <a:rPr lang="en-US" dirty="0" smtClean="0">
                <a:solidFill>
                  <a:schemeClr val="bg1"/>
                </a:solidFill>
              </a:rPr>
              <a:t>Flask + SQLite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Modules:</a:t>
            </a:r>
            <a:r>
              <a:rPr lang="en-US" sz="2000" dirty="0" smtClean="0">
                <a:solidFill>
                  <a:schemeClr val="bg1"/>
                </a:solidFill>
              </a:rPr>
              <a:t>  </a:t>
            </a:r>
            <a:r>
              <a:rPr lang="en-US" dirty="0" smtClean="0">
                <a:solidFill>
                  <a:schemeClr val="bg1"/>
                </a:solidFill>
              </a:rPr>
              <a:t>Auth, Recommendations, Product,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Requests, Knowledge Hub(video, blogs),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govt. schemes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Database:</a:t>
            </a:r>
            <a:r>
              <a:rPr lang="en-US" sz="2000" dirty="0" smtClean="0">
                <a:solidFill>
                  <a:schemeClr val="bg1"/>
                </a:solidFill>
              </a:rPr>
              <a:t>  </a:t>
            </a:r>
            <a:r>
              <a:rPr lang="en-US" sz="1600" dirty="0" smtClean="0">
                <a:solidFill>
                  <a:schemeClr val="bg1"/>
                </a:solidFill>
              </a:rPr>
              <a:t>Users, Products, Requests, Blogs,</a:t>
            </a:r>
          </a:p>
          <a:p>
            <a:r>
              <a:rPr lang="en-US" sz="1600" dirty="0" smtClean="0">
                <a:solidFill>
                  <a:schemeClr val="bg1"/>
                </a:solidFill>
              </a:rPr>
              <a:t> Videos, Schemes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 descr="Gemini_Generated_Image_pq4tpdpq4tpdpq4t (1).png"/>
          <p:cNvPicPr>
            <a:picLocks noChangeAspect="1"/>
          </p:cNvPicPr>
          <p:nvPr/>
        </p:nvPicPr>
        <p:blipFill>
          <a:blip r:embed="rId3"/>
          <a:srcRect l="4545" t="2576" r="6060" b="7284"/>
          <a:stretch>
            <a:fillRect/>
          </a:stretch>
        </p:blipFill>
        <p:spPr>
          <a:xfrm>
            <a:off x="142844" y="3643314"/>
            <a:ext cx="4576114" cy="3000396"/>
          </a:xfrm>
          <a:prstGeom prst="round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86380" y="862596"/>
            <a:ext cx="36433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lt1"/>
                </a:solidFill>
                <a:latin typeface="Bodoni MT" pitchFamily="18" charset="0"/>
              </a:rPr>
              <a:t>Why This Stack?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00660" y="1857364"/>
            <a:ext cx="3929058" cy="857256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  <a:effectLst>
            <a:outerShdw blurRad="50800" dir="8100000" algn="tr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Lightweight</a:t>
            </a:r>
            <a:endParaRPr lang="en-US" sz="2400" b="1" dirty="0" smtClean="0">
              <a:latin typeface="+mj-lt"/>
            </a:endParaRPr>
          </a:p>
          <a:p>
            <a:r>
              <a:rPr lang="en-US" dirty="0" smtClean="0"/>
              <a:t>Efficient and fast 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0628" y="4000504"/>
            <a:ext cx="3929058" cy="857256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  <a:effectLst>
            <a:outerShdw blurRad="50800" dir="8100000" algn="tr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Beginner-Friendly</a:t>
            </a:r>
            <a:endParaRPr lang="en-US" sz="2400" b="1" dirty="0" smtClean="0">
              <a:latin typeface="+mj-lt"/>
            </a:endParaRPr>
          </a:p>
          <a:p>
            <a:r>
              <a:rPr lang="en-US" dirty="0" smtClean="0"/>
              <a:t>Easy to maintain and develop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000628" y="2928934"/>
            <a:ext cx="3929058" cy="857256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  <a:effectLst>
            <a:outerShdw blurRad="50800" dir="8100000" algn="tr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Scalable</a:t>
            </a:r>
            <a:endParaRPr lang="en-US" sz="2400" b="1" dirty="0" smtClean="0">
              <a:latin typeface="+mj-lt"/>
            </a:endParaRPr>
          </a:p>
          <a:p>
            <a:r>
              <a:rPr lang="en-US" dirty="0" smtClean="0"/>
              <a:t>Ready to grow with demand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0628" y="5143512"/>
            <a:ext cx="3929058" cy="857256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  <a:effectLst>
            <a:outerShdw blurRad="50800" dir="8100000" algn="tr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Fast Development</a:t>
            </a:r>
            <a:endParaRPr lang="en-US" sz="2400" b="1" dirty="0" smtClean="0">
              <a:latin typeface="+mj-lt"/>
            </a:endParaRPr>
          </a:p>
          <a:p>
            <a:r>
              <a:rPr lang="en-US" dirty="0" smtClean="0"/>
              <a:t>Quick deployment and iteration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/>
          <p:cNvSpPr/>
          <p:nvPr/>
        </p:nvSpPr>
        <p:spPr>
          <a:xfrm rot="5400000">
            <a:off x="1250145" y="-1107325"/>
            <a:ext cx="6643709" cy="9001188"/>
          </a:xfrm>
          <a:custGeom>
            <a:avLst/>
            <a:gdLst/>
            <a:ahLst/>
            <a:cxnLst/>
            <a:rect l="l" t="t" r="r" b="b"/>
            <a:pathLst>
              <a:path w="4989576" h="9535668">
                <a:moveTo>
                  <a:pt x="0" y="0"/>
                </a:moveTo>
                <a:lnTo>
                  <a:pt x="4989576" y="0"/>
                </a:lnTo>
                <a:lnTo>
                  <a:pt x="4989576" y="9535668"/>
                </a:lnTo>
                <a:lnTo>
                  <a:pt x="0" y="9535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-32" y="148216"/>
            <a:ext cx="67150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chemeClr val="lt1"/>
                </a:solidFill>
                <a:latin typeface="Bodoni MT" pitchFamily="18" charset="0"/>
              </a:rPr>
              <a:t>User Workflow: Simple &amp; Intuitive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42844" y="1500174"/>
            <a:ext cx="4143404" cy="45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4857752" y="1500174"/>
            <a:ext cx="4143404" cy="45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214282" y="3097529"/>
            <a:ext cx="4143404" cy="45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4857752" y="3026091"/>
            <a:ext cx="4143404" cy="45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214282" y="5072074"/>
            <a:ext cx="4143404" cy="45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4857752" y="5072074"/>
            <a:ext cx="4143404" cy="45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7019" y="1714488"/>
            <a:ext cx="429066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lt1"/>
                </a:solidFill>
              </a:rPr>
              <a:t>Landing Page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Users select their role (Entrepreneur, Mentor, or Buyer)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57752" y="1714488"/>
            <a:ext cx="2710550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</a:t>
            </a:r>
            <a:r>
              <a:rPr lang="en-US" sz="2400" b="1" dirty="0" smtClean="0">
                <a:solidFill>
                  <a:schemeClr val="lt1"/>
                </a:solidFill>
              </a:rPr>
              <a:t>ignup/Login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Create account and access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Personalized dashboard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406" y="3342031"/>
            <a:ext cx="332289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lt1"/>
                </a:solidFill>
              </a:rPr>
              <a:t>View Recommendations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AI-powered suggestions for role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(Entrepreneur, Mentor, or Buyer)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55507" y="3286124"/>
            <a:ext cx="400500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lt1"/>
                </a:solidFill>
              </a:rPr>
              <a:t>Send Requests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Connect with mentors or buyers through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secure request system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803" y="5286388"/>
            <a:ext cx="4153445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lt1"/>
                </a:solidFill>
              </a:rPr>
              <a:t>Approval &amp;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Once approved, access contact details and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begin collaboration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86314" y="5286388"/>
            <a:ext cx="38770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lt1"/>
                </a:solidFill>
              </a:rPr>
              <a:t>Explore Resources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Browse marketplace, blogs, videos, and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government schemes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2844" y="10715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01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57752" y="10715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02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4282" y="26431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03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39114" y="26431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04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2768" y="470274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05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57752" y="46434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06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/>
          <p:cNvSpPr/>
          <p:nvPr/>
        </p:nvSpPr>
        <p:spPr>
          <a:xfrm rot="5400000">
            <a:off x="1250145" y="-1107325"/>
            <a:ext cx="6643709" cy="9001188"/>
          </a:xfrm>
          <a:custGeom>
            <a:avLst/>
            <a:gdLst/>
            <a:ahLst/>
            <a:cxnLst/>
            <a:rect l="l" t="t" r="r" b="b"/>
            <a:pathLst>
              <a:path w="4989576" h="9535668">
                <a:moveTo>
                  <a:pt x="0" y="0"/>
                </a:moveTo>
                <a:lnTo>
                  <a:pt x="4989576" y="0"/>
                </a:lnTo>
                <a:lnTo>
                  <a:pt x="4989576" y="9535668"/>
                </a:lnTo>
                <a:lnTo>
                  <a:pt x="0" y="9535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2"/>
          <p:cNvSpPr txBox="1"/>
          <p:nvPr/>
        </p:nvSpPr>
        <p:spPr>
          <a:xfrm flipH="1">
            <a:off x="285688" y="571480"/>
            <a:ext cx="45263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lt1"/>
                </a:solidFill>
                <a:latin typeface="Bodoni MT" pitchFamily="18" charset="0"/>
              </a:rPr>
              <a:t>Key Platform Features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5688" y="1552693"/>
            <a:ext cx="2643206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lt1"/>
                </a:solidFill>
              </a:rPr>
              <a:t>Role-Based </a:t>
            </a:r>
          </a:p>
          <a:p>
            <a:r>
              <a:rPr lang="en-US" sz="2400" b="1" dirty="0" smtClean="0">
                <a:solidFill>
                  <a:schemeClr val="lt1"/>
                </a:solidFill>
              </a:rPr>
              <a:t>Dashboard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Each user sees content specific to their role and needs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00364" y="1624131"/>
            <a:ext cx="32861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lt1"/>
                </a:solidFill>
              </a:rPr>
              <a:t>Smart</a:t>
            </a:r>
          </a:p>
          <a:p>
            <a:r>
              <a:rPr lang="en-US" sz="2400" b="1" dirty="0" smtClean="0">
                <a:solidFill>
                  <a:schemeClr val="lt1"/>
                </a:solidFill>
              </a:rPr>
              <a:t> Recommendations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AI/Rule-based suggestions for role(Entrepreneur, Mentor, or Buyer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43636" y="1552693"/>
            <a:ext cx="292895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lt1"/>
                </a:solidFill>
              </a:rPr>
              <a:t>Secure </a:t>
            </a:r>
          </a:p>
          <a:p>
            <a:r>
              <a:rPr lang="en-US" sz="2400" b="1" dirty="0" smtClean="0">
                <a:solidFill>
                  <a:schemeClr val="lt1"/>
                </a:solidFill>
              </a:rPr>
              <a:t>Requests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Mentors approve requests before contact info is shared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 rot="5400000" flipV="1">
            <a:off x="1844465" y="2513166"/>
            <a:ext cx="1928826" cy="45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 rot="5400000" flipV="1">
            <a:off x="4987768" y="2584603"/>
            <a:ext cx="2071703" cy="45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214282" y="4143380"/>
            <a:ext cx="2500330" cy="192882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Marketplace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List of products with ease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000364" y="4143380"/>
            <a:ext cx="2786082" cy="185738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Knowledge Hub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Blogs, videos, and government schemes for guidance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000760" y="4143380"/>
            <a:ext cx="3000364" cy="192882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Multilingual Support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Google Translate for regional language accessibility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/>
          <p:cNvSpPr/>
          <p:nvPr/>
        </p:nvSpPr>
        <p:spPr>
          <a:xfrm rot="5400000">
            <a:off x="1250145" y="-1107325"/>
            <a:ext cx="6643709" cy="9001188"/>
          </a:xfrm>
          <a:custGeom>
            <a:avLst/>
            <a:gdLst/>
            <a:ahLst/>
            <a:cxnLst/>
            <a:rect l="l" t="t" r="r" b="b"/>
            <a:pathLst>
              <a:path w="4989576" h="9535668">
                <a:moveTo>
                  <a:pt x="0" y="0"/>
                </a:moveTo>
                <a:lnTo>
                  <a:pt x="4989576" y="0"/>
                </a:lnTo>
                <a:lnTo>
                  <a:pt x="4989576" y="9535668"/>
                </a:lnTo>
                <a:lnTo>
                  <a:pt x="0" y="9535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214282" y="76778"/>
            <a:ext cx="52864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lt1"/>
                </a:solidFill>
                <a:latin typeface="Bodoni MT" pitchFamily="18" charset="0"/>
              </a:rPr>
              <a:t>Future Enhancements</a:t>
            </a: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282" y="719720"/>
            <a:ext cx="8643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Our platform is designed to evolve and scale with emerging technologies and user needs. Here's what's on the horizon: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 rot="5400000" flipV="1">
            <a:off x="1844510" y="4084790"/>
            <a:ext cx="5214950" cy="45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86248" y="1428736"/>
            <a:ext cx="301685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>
            <a:spAutoFit/>
          </a:bodyPr>
          <a:lstStyle/>
          <a:p>
            <a:pPr lvl="0" algn="ctr"/>
            <a:r>
              <a:rPr lang="en-US" b="1" dirty="0" smtClean="0">
                <a:solidFill>
                  <a:prstClr val="white"/>
                </a:solidFill>
              </a:rPr>
              <a:t>1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406" y="1493396"/>
            <a:ext cx="3471784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AI-Based Matchmaking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Enhanced recommendations using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machine learning algorithms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 flipV="1">
            <a:off x="3214678" y="1714488"/>
            <a:ext cx="1285884" cy="45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 flipV="1">
            <a:off x="4357686" y="2357430"/>
            <a:ext cx="1285884" cy="45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286248" y="2214554"/>
            <a:ext cx="301686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>
            <a:spAutoFit/>
          </a:bodyPr>
          <a:lstStyle/>
          <a:p>
            <a:pPr lvl="0" algn="ctr"/>
            <a:r>
              <a:rPr lang="en-US" b="1" dirty="0" smtClean="0">
                <a:solidFill>
                  <a:prstClr val="white"/>
                </a:solidFill>
              </a:rPr>
              <a:t>2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15008" y="2000240"/>
            <a:ext cx="326095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Direct Chat Feature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Real-time messaging between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users for instant communication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 flipV="1">
            <a:off x="3214678" y="3143248"/>
            <a:ext cx="1285884" cy="45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 flipV="1">
            <a:off x="4357686" y="3857628"/>
            <a:ext cx="1285884" cy="45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4286248" y="3000372"/>
            <a:ext cx="301686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>
            <a:spAutoFit/>
          </a:bodyPr>
          <a:lstStyle/>
          <a:p>
            <a:pPr lvl="0" algn="ctr"/>
            <a:r>
              <a:rPr lang="en-US" b="1" dirty="0" smtClean="0">
                <a:solidFill>
                  <a:prstClr val="white"/>
                </a:solidFill>
              </a:rPr>
              <a:t>3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86248" y="3643314"/>
            <a:ext cx="301686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>
            <a:spAutoFit/>
          </a:bodyPr>
          <a:lstStyle/>
          <a:p>
            <a:pPr lvl="0" algn="ctr"/>
            <a:r>
              <a:rPr lang="en-US" b="1" dirty="0" smtClean="0">
                <a:solidFill>
                  <a:prstClr val="white"/>
                </a:solidFill>
              </a:rPr>
              <a:t>4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2844" y="2786058"/>
            <a:ext cx="3236784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Payment Gateway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Integrated marketplace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Transactions for seamless buying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43570" y="3500438"/>
            <a:ext cx="507209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Mobile Application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Flutter/React Native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app for enhanced accessibility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2844" y="4286256"/>
            <a:ext cx="3579634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API Integration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Third-party integration and business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analytics capabilities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86248" y="4357694"/>
            <a:ext cx="301686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>
            <a:spAutoFit/>
          </a:bodyPr>
          <a:lstStyle/>
          <a:p>
            <a:pPr lvl="0" algn="ctr"/>
            <a:r>
              <a:rPr lang="en-US" b="1" dirty="0" smtClean="0">
                <a:solidFill>
                  <a:prstClr val="white"/>
                </a:solidFill>
              </a:rPr>
              <a:t>5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 flipV="1">
            <a:off x="3000364" y="4429132"/>
            <a:ext cx="1285884" cy="45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 flipV="1">
            <a:off x="4286248" y="5286388"/>
            <a:ext cx="1285884" cy="45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4286248" y="5143512"/>
            <a:ext cx="301686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>
            <a:spAutoFit/>
          </a:bodyPr>
          <a:lstStyle/>
          <a:p>
            <a:pPr lvl="0" algn="ctr"/>
            <a:r>
              <a:rPr lang="en-US" b="1" dirty="0" smtClean="0">
                <a:solidFill>
                  <a:prstClr val="white"/>
                </a:solidFill>
              </a:rPr>
              <a:t>6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43570" y="5072074"/>
            <a:ext cx="338560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Gamification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Badges and leaderboards to boost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engagement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 flipV="1">
            <a:off x="3214678" y="6143644"/>
            <a:ext cx="1285884" cy="45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4286248" y="5929330"/>
            <a:ext cx="301686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>
            <a:spAutoFit/>
          </a:bodyPr>
          <a:lstStyle/>
          <a:p>
            <a:pPr lvl="0" algn="ctr"/>
            <a:r>
              <a:rPr lang="en-US" b="1" dirty="0" smtClean="0">
                <a:solidFill>
                  <a:prstClr val="white"/>
                </a:solidFill>
              </a:rPr>
              <a:t>7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6796" y="5429264"/>
            <a:ext cx="38122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Direct Buy System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Direct buy and cart system like flipkart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or amazon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/>
          <p:cNvSpPr/>
          <p:nvPr/>
        </p:nvSpPr>
        <p:spPr>
          <a:xfrm rot="5400000">
            <a:off x="1250145" y="-1107325"/>
            <a:ext cx="6643709" cy="9001188"/>
          </a:xfrm>
          <a:custGeom>
            <a:avLst/>
            <a:gdLst/>
            <a:ahLst/>
            <a:cxnLst/>
            <a:rect l="l" t="t" r="r" b="b"/>
            <a:pathLst>
              <a:path w="4989576" h="9535668">
                <a:moveTo>
                  <a:pt x="0" y="0"/>
                </a:moveTo>
                <a:lnTo>
                  <a:pt x="4989576" y="0"/>
                </a:lnTo>
                <a:lnTo>
                  <a:pt x="4989576" y="9535668"/>
                </a:lnTo>
                <a:lnTo>
                  <a:pt x="0" y="9535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285720" y="142852"/>
            <a:ext cx="41200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chemeClr val="lt1"/>
                </a:solidFill>
                <a:latin typeface="Bodoni MT" pitchFamily="18" charset="0"/>
              </a:rPr>
              <a:t>Impact &amp; Usefulness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2844" y="895349"/>
            <a:ext cx="521497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 smtClean="0">
                <a:solidFill>
                  <a:schemeClr val="bg1"/>
                </a:solidFill>
              </a:rPr>
              <a:t>EmpowerHer bridges critical gaps by connecting entrepreneurs, mentors, and buyers in a supportive digital ecosystem. Our platform supports early-stage startups to grow faster while providing essential learning resources and government scheme information.</a:t>
            </a:r>
          </a:p>
          <a:p>
            <a:r>
              <a:rPr lang="en-US" sz="1700" dirty="0" smtClean="0">
                <a:solidFill>
                  <a:schemeClr val="bg1"/>
                </a:solidFill>
              </a:rPr>
              <a:t>By encouraging digital entrepreneurship in both rural and urban areas, we promote collaboration and networking that drives startup success and community development.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 descr="Screenshot 2025-10-11 1049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694" y="1000108"/>
            <a:ext cx="3571900" cy="321471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6" name="TextBox 5"/>
          <p:cNvSpPr txBox="1"/>
          <p:nvPr/>
        </p:nvSpPr>
        <p:spPr>
          <a:xfrm>
            <a:off x="-285784" y="2914249"/>
            <a:ext cx="307765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 smtClean="0">
                <a:solidFill>
                  <a:schemeClr val="bg1"/>
                </a:solidFill>
                <a:latin typeface="Georgia" pitchFamily="18" charset="0"/>
              </a:rPr>
              <a:t>3</a:t>
            </a:r>
          </a:p>
          <a:p>
            <a:pPr algn="ctr"/>
            <a:r>
              <a:rPr lang="en-US" sz="3000" b="1" dirty="0" smtClean="0">
                <a:solidFill>
                  <a:schemeClr val="bg1"/>
                </a:solidFill>
              </a:rPr>
              <a:t>Key User Roles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Entrepreneurs, Mentors, Buyers</a:t>
            </a:r>
          </a:p>
          <a:p>
            <a:pPr algn="ctr"/>
            <a:endParaRPr lang="en-US" b="1" dirty="0" smtClean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72812" y="2968181"/>
            <a:ext cx="289932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 smtClean="0">
                <a:solidFill>
                  <a:schemeClr val="bg1"/>
                </a:solidFill>
                <a:latin typeface="Georgia" pitchFamily="18" charset="0"/>
              </a:rPr>
              <a:t>100%</a:t>
            </a:r>
          </a:p>
          <a:p>
            <a:r>
              <a:rPr lang="en-US" sz="3000" b="1" dirty="0" smtClean="0">
                <a:solidFill>
                  <a:schemeClr val="bg1"/>
                </a:solidFill>
              </a:rPr>
              <a:t>Digital Inclusion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Accessible across all regions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 rot="5400000" flipV="1">
            <a:off x="-512958" y="5727876"/>
            <a:ext cx="1500199" cy="45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8596" y="5429264"/>
            <a:ext cx="8572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Empowering rural women is not just a social mission—it is a key driver for economic upliftment and community transformation.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827</Words>
  <Application>Microsoft Office PowerPoint</Application>
  <PresentationFormat>On-screen Show (4:3)</PresentationFormat>
  <Paragraphs>151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dell</cp:lastModifiedBy>
  <cp:revision>42</cp:revision>
  <dcterms:created xsi:type="dcterms:W3CDTF">2025-10-10T13:56:50Z</dcterms:created>
  <dcterms:modified xsi:type="dcterms:W3CDTF">2025-10-15T05:10:00Z</dcterms:modified>
</cp:coreProperties>
</file>